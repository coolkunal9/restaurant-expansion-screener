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26679" y="0"/>
            <a:ext cx="4462272" cy="68580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6583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23744"/>
                </a:solidFill>
                <a:latin typeface="Arial"/>
              </a:rPr>
              <a:t>ZOMATO DATASET  |  EXPANSION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6766560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200" b="1" i="0">
                <a:solidFill>
                  <a:srgbClr val="412326"/>
                </a:solidFill>
                <a:latin typeface="Arial"/>
              </a:rPr>
              <a:t>Restaurant
Expansion Screener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630936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696C73"/>
                </a:solidFill>
                <a:latin typeface="Arial"/>
              </a:rPr>
              <a:t>Where should a new restaurant brand look first outside India?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594360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 dirty="0">
                <a:solidFill>
                  <a:srgbClr val="2A2B30"/>
                </a:solidFill>
                <a:latin typeface="Arial"/>
              </a:rPr>
              <a:t>Prepared by Kunal Prasad
Newton School Data Analytics</a:t>
            </a:r>
            <a:r>
              <a:rPr lang="en-US" sz="1300" b="0" i="0">
                <a:solidFill>
                  <a:srgbClr val="2A2B30"/>
                </a:solidFill>
                <a:latin typeface="Arial"/>
              </a:rPr>
              <a:t>(Excel)</a:t>
            </a:r>
            <a:r>
              <a:rPr sz="1300" b="0" i="0" dirty="0">
                <a:solidFill>
                  <a:srgbClr val="2A2B30"/>
                </a:solidFill>
                <a:latin typeface="Arial"/>
              </a:rPr>
              <a:t>
</a:t>
            </a:r>
            <a:r>
              <a:rPr sz="1300" b="0" i="0">
                <a:solidFill>
                  <a:srgbClr val="2A2B30"/>
                </a:solidFill>
                <a:latin typeface="Arial"/>
              </a:rPr>
              <a:t>October 2026</a:t>
            </a:r>
            <a:endParaRPr sz="1300" b="0" i="0" dirty="0">
              <a:solidFill>
                <a:srgbClr val="2A2B30"/>
              </a:solidFill>
              <a:latin typeface="Arial"/>
            </a:endParaRPr>
          </a:p>
        </p:txBody>
      </p:sp>
      <p:pic>
        <p:nvPicPr>
          <p:cNvPr id="7" name="Picture 6" descr="_ppt_asse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793174"/>
            <a:ext cx="3840480" cy="5271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Arial"/>
              </a:rPr>
              <a:t>01  |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412326"/>
                </a:solidFill>
                <a:latin typeface="Arial"/>
              </a:rPr>
              <a:t>A large home market makes international screening important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96C73"/>
                </a:solidFill>
                <a:latin typeface="Arial"/>
              </a:rPr>
              <a:t>The dataset is a screening tool—not a final investment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96C73"/>
                </a:solidFill>
                <a:latin typeface="Arial"/>
              </a:rPr>
              <a:t>ZOMATO DATASET  |  RESTAURANT EXPANSION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E23744"/>
                </a:solidFill>
                <a:latin typeface="Arial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2606040" cy="1417320"/>
          </a:xfrm>
          <a:prstGeom prst="roundRect">
            <a:avLst/>
          </a:prstGeom>
          <a:solidFill>
            <a:srgbClr val="F8F7F6"/>
          </a:solidFill>
          <a:ln>
            <a:solidFill>
              <a:srgbClr val="E2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883664"/>
            <a:ext cx="227685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96C73"/>
                </a:solidFill>
                <a:latin typeface="Arial"/>
              </a:rPr>
              <a:t>RESTAURANT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76272"/>
            <a:ext cx="227685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E23744"/>
                </a:solidFill>
                <a:latin typeface="Arial"/>
              </a:rPr>
              <a:t>9,551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688336"/>
            <a:ext cx="2276856" cy="39319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15 countries in the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737360"/>
            <a:ext cx="2606040" cy="1417320"/>
          </a:xfrm>
          <a:prstGeom prst="roundRect">
            <a:avLst/>
          </a:prstGeom>
          <a:solidFill>
            <a:srgbClr val="F8F7F6"/>
          </a:solidFill>
          <a:ln>
            <a:solidFill>
              <a:srgbClr val="E2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1883664"/>
            <a:ext cx="227685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96C73"/>
                </a:solidFill>
                <a:latin typeface="Arial"/>
              </a:rPr>
              <a:t>INDIA LISTINGS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176272"/>
            <a:ext cx="227685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E23744"/>
                </a:solidFill>
                <a:latin typeface="Arial"/>
              </a:rPr>
              <a:t>8,652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688336"/>
            <a:ext cx="2276856" cy="39319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About 90.6% of all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737360"/>
            <a:ext cx="2606040" cy="1417320"/>
          </a:xfrm>
          <a:prstGeom prst="roundRect">
            <a:avLst/>
          </a:prstGeom>
          <a:solidFill>
            <a:srgbClr val="F8F7F6"/>
          </a:solidFill>
          <a:ln>
            <a:solidFill>
              <a:srgbClr val="E2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1883664"/>
            <a:ext cx="227685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96C73"/>
                </a:solidFill>
                <a:latin typeface="Arial"/>
              </a:rPr>
              <a:t>COUNTRIES OUTSIDE INDIA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176272"/>
            <a:ext cx="227685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E23744"/>
                </a:solidFill>
                <a:latin typeface="Arial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688336"/>
            <a:ext cx="2276856" cy="39319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Potential markets to screen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737360"/>
            <a:ext cx="2606040" cy="1417320"/>
          </a:xfrm>
          <a:prstGeom prst="roundRect">
            <a:avLst/>
          </a:prstGeom>
          <a:solidFill>
            <a:srgbClr val="F8F7F6"/>
          </a:solidFill>
          <a:ln>
            <a:solidFill>
              <a:srgbClr val="E2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25712" y="1883664"/>
            <a:ext cx="227685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96C73"/>
                </a:solidFill>
                <a:latin typeface="Arial"/>
              </a:rPr>
              <a:t>RATED RESTAURANTS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2176272"/>
            <a:ext cx="227685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E23744"/>
                </a:solidFill>
                <a:latin typeface="Arial"/>
              </a:rPr>
              <a:t>7,403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2688336"/>
            <a:ext cx="2276856" cy="39319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After treating rating 1.0 as not 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657600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23744"/>
                </a:solidFill>
                <a:latin typeface="Arial"/>
              </a:rPr>
              <a:t>Project objective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023360"/>
            <a:ext cx="507492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12326"/>
                </a:solidFill>
                <a:latin typeface="Arial"/>
              </a:rPr>
              <a:t>Identify countries and cities worth deeper research by comparing restaurant listings, customer engagement, ratings, costs and price tiers.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65760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23744"/>
                </a:solidFill>
                <a:latin typeface="Arial"/>
              </a:rPr>
              <a:t>What the dataset cannot tell 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023360"/>
            <a:ext cx="4937760" cy="12801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2B30"/>
                </a:solidFill>
                <a:latin typeface="Arial"/>
              </a:defRPr>
            </a:pPr>
            <a:r>
              <a:t>•  No revenue, footfall, rent or operating-cost data.</a:t>
            </a:r>
          </a:p>
          <a:p>
            <a:pPr>
              <a:spcAft>
                <a:spcPts val="800"/>
              </a:spcAft>
              <a:defRPr sz="1400">
                <a:solidFill>
                  <a:srgbClr val="2A2B30"/>
                </a:solidFill>
                <a:latin typeface="Arial"/>
              </a:defRPr>
            </a:pPr>
            <a:r>
              <a:t>•  Votes indicate recorded engagement—not market demand.</a:t>
            </a:r>
          </a:p>
          <a:p>
            <a:pPr>
              <a:spcAft>
                <a:spcPts val="800"/>
              </a:spcAft>
              <a:defRPr sz="1400">
                <a:solidFill>
                  <a:srgbClr val="2A2B30"/>
                </a:solidFill>
                <a:latin typeface="Arial"/>
              </a:defRPr>
            </a:pPr>
            <a:r>
              <a:t>•  Shortlisted locations require local validation.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F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0664" y="6062472"/>
            <a:ext cx="106801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B241C"/>
                </a:solidFill>
                <a:latin typeface="Arial"/>
              </a:rPr>
              <a:t>Decision goal: narrow the research scope, not declare a guaranteed winning market.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Arial"/>
              </a:rPr>
              <a:t>02  | 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412326"/>
                </a:solidFill>
                <a:latin typeface="Arial"/>
              </a:rPr>
              <a:t>Cleaning protects the quality of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96C73"/>
                </a:solidFill>
                <a:latin typeface="Arial"/>
              </a:rPr>
              <a:t>Raw Data was preserved; transformations were applied to the analysis copy.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96C73"/>
                </a:solidFill>
                <a:latin typeface="Arial"/>
              </a:rPr>
              <a:t>ZOMATO DATASET  |  RESTAURANT EXPANSION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E23744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412326"/>
                </a:solidFill>
                <a:latin typeface="Arial"/>
              </a:rPr>
              <a:t>Key preparation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5486400" cy="33832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A2B30"/>
                </a:solidFill>
                <a:latin typeface="Arial"/>
              </a:defRPr>
            </a:pPr>
            <a:r>
              <a:t>•  Rating 1.0 was treated as not rated; Rating_Clean is blank for those records.</a:t>
            </a:r>
          </a:p>
          <a:p>
            <a:pPr>
              <a:spcAft>
                <a:spcPts val="1000"/>
              </a:spcAft>
              <a:defRPr sz="1400">
                <a:solidFill>
                  <a:srgbClr val="2A2B30"/>
                </a:solidFill>
                <a:latin typeface="Arial"/>
              </a:defRPr>
            </a:pPr>
            <a:r>
              <a:t>•  Zero costs and zero coordinates were treated as missing for relevant analysis.</a:t>
            </a:r>
          </a:p>
          <a:p>
            <a:pPr>
              <a:spcAft>
                <a:spcPts val="1000"/>
              </a:spcAft>
              <a:defRPr sz="1400">
                <a:solidFill>
                  <a:srgbClr val="2A2B30"/>
                </a:solidFill>
                <a:latin typeface="Arial"/>
              </a:defRPr>
            </a:pPr>
            <a:r>
              <a:t>•  Country names were mapped from country codes using the lookup sheet.</a:t>
            </a:r>
          </a:p>
          <a:p>
            <a:pPr>
              <a:spcAft>
                <a:spcPts val="1000"/>
              </a:spcAft>
              <a:defRPr sz="1400">
                <a:solidFill>
                  <a:srgbClr val="2A2B30"/>
                </a:solidFill>
                <a:latin typeface="Arial"/>
              </a:defRPr>
            </a:pPr>
            <a:r>
              <a:t>•  Currency labels were checked and costs were converted to INR for comparison.</a:t>
            </a:r>
          </a:p>
          <a:p>
            <a:pPr>
              <a:spcAft>
                <a:spcPts val="1000"/>
              </a:spcAft>
              <a:defRPr sz="1400">
                <a:solidFill>
                  <a:srgbClr val="2A2B30"/>
                </a:solidFill>
                <a:latin typeface="Arial"/>
              </a:defRPr>
            </a:pPr>
            <a:r>
              <a:t>•  Opening dates and years, price labels and primary cuisine were added as helper fields.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737360"/>
            <a:ext cx="2103120" cy="1325880"/>
          </a:xfrm>
          <a:prstGeom prst="roundRect">
            <a:avLst/>
          </a:prstGeom>
          <a:solidFill>
            <a:srgbClr val="F8F7F6"/>
          </a:solidFill>
          <a:ln>
            <a:solidFill>
              <a:srgbClr val="E2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93992" y="1883664"/>
            <a:ext cx="177393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96C73"/>
                </a:solidFill>
                <a:latin typeface="Arial"/>
              </a:rPr>
              <a:t>TOTAL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2176272"/>
            <a:ext cx="177393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E23744"/>
                </a:solidFill>
                <a:latin typeface="Arial"/>
              </a:rPr>
              <a:t>9,551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2688336"/>
            <a:ext cx="1773936" cy="301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Original 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737360"/>
            <a:ext cx="2103120" cy="1325880"/>
          </a:xfrm>
          <a:prstGeom prst="roundRect">
            <a:avLst/>
          </a:prstGeom>
          <a:solidFill>
            <a:srgbClr val="F8F7F6"/>
          </a:solidFill>
          <a:ln>
            <a:solidFill>
              <a:srgbClr val="E2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25712" y="1883664"/>
            <a:ext cx="177393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96C73"/>
                </a:solidFill>
                <a:latin typeface="Arial"/>
              </a:rPr>
              <a:t>COUNTRIES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2176272"/>
            <a:ext cx="177393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E23744"/>
                </a:solidFill>
                <a:latin typeface="Arial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2688336"/>
            <a:ext cx="1773936" cy="301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Country-level 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3337560"/>
            <a:ext cx="2103120" cy="1325880"/>
          </a:xfrm>
          <a:prstGeom prst="roundRect">
            <a:avLst/>
          </a:prstGeom>
          <a:solidFill>
            <a:srgbClr val="F8F7F6"/>
          </a:solidFill>
          <a:ln>
            <a:solidFill>
              <a:srgbClr val="E2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93992" y="3483864"/>
            <a:ext cx="177393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96C73"/>
                </a:solidFill>
                <a:latin typeface="Arial"/>
              </a:rPr>
              <a:t>RATED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3776472"/>
            <a:ext cx="177393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E23744"/>
                </a:solidFill>
                <a:latin typeface="Arial"/>
              </a:rPr>
              <a:t>7,403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4288536"/>
            <a:ext cx="1773936" cy="301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Rating_Clean populated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337560"/>
            <a:ext cx="2103120" cy="1325880"/>
          </a:xfrm>
          <a:prstGeom prst="roundRect">
            <a:avLst/>
          </a:prstGeom>
          <a:solidFill>
            <a:srgbClr val="F8F7F6"/>
          </a:solidFill>
          <a:ln>
            <a:solidFill>
              <a:srgbClr val="E2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25712" y="3483864"/>
            <a:ext cx="177393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96C73"/>
                </a:solidFill>
                <a:latin typeface="Arial"/>
              </a:rPr>
              <a:t>NOT 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3776472"/>
            <a:ext cx="177393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E23744"/>
                </a:solidFill>
                <a:latin typeface="Arial"/>
              </a:rPr>
              <a:t>2,148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4288536"/>
            <a:ext cx="1773936" cy="301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Rating 1.0 excluded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F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" y="6062472"/>
            <a:ext cx="106801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B241C"/>
                </a:solidFill>
                <a:latin typeface="Arial"/>
              </a:rPr>
              <a:t>Use the same cleaned ranges for every pivot, chart and KPI to avoid inconsistent totals.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Arial"/>
              </a:rPr>
              <a:t>03  |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412326"/>
                </a:solidFill>
                <a:latin typeface="Arial"/>
              </a:rPr>
              <a:t>Five repeatable steps turned the raw file into a market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96C73"/>
                </a:solidFill>
                <a:latin typeface="Arial"/>
              </a:rPr>
              <a:t>Tools: Google Sheets, pivot tables, formulas, charts and slicers.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96C73"/>
                </a:solidFill>
                <a:latin typeface="Arial"/>
              </a:rPr>
              <a:t>ZOMATO DATASET  |  RESTAURANT EXPANSION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E23744"/>
                </a:solidFill>
                <a:latin typeface="Arial"/>
              </a:rPr>
              <a:t>04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600200"/>
            <a:ext cx="438912" cy="438912"/>
          </a:xfrm>
          <a:prstGeom prst="ellipse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709928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18488"/>
            <a:ext cx="1508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23744"/>
                </a:solidFill>
                <a:latin typeface="Arial"/>
              </a:rPr>
              <a:t>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600200"/>
            <a:ext cx="5577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A2B30"/>
                </a:solidFill>
                <a:latin typeface="Arial"/>
              </a:rPr>
              <a:t>Blanks for invalid zero values; Rating_Clean; corrected 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600200"/>
            <a:ext cx="2971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TRIM • IF • Find &amp; replace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432304"/>
            <a:ext cx="438912" cy="438912"/>
          </a:xfrm>
          <a:prstGeom prst="ellipse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542032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450592"/>
            <a:ext cx="1508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23744"/>
                </a:solidFill>
                <a:latin typeface="Arial"/>
              </a:rPr>
              <a:t>ENRICH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432304"/>
            <a:ext cx="5577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A2B30"/>
                </a:solidFill>
                <a:latin typeface="Arial"/>
              </a:rPr>
              <a:t>Country name, opening year, currency symbol, INR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432304"/>
            <a:ext cx="2971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VLOOKUP • MID • FIND • YEAR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264408"/>
            <a:ext cx="438912" cy="438912"/>
          </a:xfrm>
          <a:prstGeom prst="ellipse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374136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282696"/>
            <a:ext cx="1508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23744"/>
                </a:solidFill>
                <a:latin typeface="Arial"/>
              </a:rPr>
              <a:t>SUMMARISE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264408"/>
            <a:ext cx="5577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A2B30"/>
                </a:solidFill>
                <a:latin typeface="Arial"/>
              </a:rPr>
              <a:t>Counts and averages by country, city and cuisine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264408"/>
            <a:ext cx="2971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Pivot tables • COUNTIFS • AVERAGEIFS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4096512"/>
            <a:ext cx="438912" cy="438912"/>
          </a:xfrm>
          <a:prstGeom prst="ellipse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206240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114800"/>
            <a:ext cx="1508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23744"/>
                </a:solidFill>
                <a:latin typeface="Arial"/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096512"/>
            <a:ext cx="5577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A2B30"/>
                </a:solidFill>
                <a:latin typeface="Arial"/>
              </a:rPr>
              <a:t>Ratings against price tier, delivery, booking and cuisine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096512"/>
            <a:ext cx="2971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CORREL • FILTER • array formulas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" y="4928616"/>
            <a:ext cx="438912" cy="438912"/>
          </a:xfrm>
          <a:prstGeom prst="ellipse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5038344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946904"/>
            <a:ext cx="1508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23744"/>
                </a:solidFill>
                <a:latin typeface="Arial"/>
              </a:rPr>
              <a:t>VISUALISE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928616"/>
            <a:ext cx="5577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A2B30"/>
                </a:solidFill>
                <a:latin typeface="Arial"/>
              </a:rPr>
              <a:t>Charts and dashboard with Year and Country filters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928616"/>
            <a:ext cx="2971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Charts • slicers • conditional formatting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F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0664" y="6062472"/>
            <a:ext cx="106801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B241C"/>
                </a:solidFill>
                <a:latin typeface="Arial"/>
              </a:rPr>
              <a:t>Keep a clear chain from raw data → cleaned data → analysis → recommendation.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Arial"/>
              </a:rPr>
              <a:t>04  |  MARKET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 dirty="0">
                <a:solidFill>
                  <a:srgbClr val="412326"/>
                </a:solidFill>
                <a:latin typeface="Arial"/>
              </a:rPr>
              <a:t>Indonesia and Turkey show strong engagement with relatively few listings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92385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96C73"/>
                </a:solidFill>
                <a:latin typeface="Arial"/>
              </a:rPr>
              <a:t>Use restaurant count and average votes together; neither metric alone proves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96C73"/>
                </a:solidFill>
                <a:latin typeface="Arial"/>
              </a:rPr>
              <a:t>ZOMATO DATASET  |  RESTAURANT EXPANSION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E23744"/>
                </a:solidFill>
                <a:latin typeface="Arial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737360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23744"/>
                </a:solidFill>
                <a:latin typeface="Arial"/>
              </a:rPr>
              <a:t>What the screen suggests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94560"/>
            <a:ext cx="3474720" cy="25603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Indonesia: 21 listings and roughly 772 average votes in the earlier country screen.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Turkey: 34 listings and roughly 432 average votes.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Qatar and Sri Lanka have fewer listings but lower average votes.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Shortlist for deeper research: Indonesia, Turkey, Qatar and Sri Lanka.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F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highlight>
                  <a:srgbClr val="000000"/>
                </a:highlight>
              </a:rPr>
              <a:t>Restaurant count by country</a:t>
            </a:r>
            <a:endParaRPr dirty="0">
              <a:highlight>
                <a:srgbClr val="000000"/>
              </a:highlight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5ABFDD8-102C-4FE8-1AAC-7A80A7725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331" y="1897380"/>
            <a:ext cx="5761113" cy="37469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Arial"/>
              </a:rPr>
              <a:t>05  |  CITY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412326"/>
                </a:solidFill>
                <a:latin typeface="Arial"/>
              </a:rPr>
              <a:t>Jakarta, Ankara and Istanbul have the strongest average ratings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96C73"/>
                </a:solidFill>
                <a:latin typeface="Arial"/>
              </a:rPr>
              <a:t>Each city has a small sample of 14–20 listed restaurants; interpret small differences cautiously.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96C73"/>
                </a:solidFill>
                <a:latin typeface="Arial"/>
              </a:rPr>
              <a:t>ZOMATO DATASET  |  RESTAURANT EXPANSION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E23744"/>
                </a:solidFill>
                <a:latin typeface="Arial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737360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23744"/>
                </a:solidFill>
                <a:latin typeface="Arial"/>
              </a:rPr>
              <a:t>City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148840"/>
            <a:ext cx="3703320" cy="30175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A2B30"/>
                </a:solidFill>
                <a:latin typeface="Arial"/>
              </a:defRPr>
            </a:pPr>
            <a:r>
              <a:t>•  Jakarta — 16 listings | 742.69 avg votes | 4.36 rating</a:t>
            </a:r>
          </a:p>
          <a:p>
            <a:pPr>
              <a:spcAft>
                <a:spcPts val="800"/>
              </a:spcAft>
              <a:defRPr sz="1200">
                <a:solidFill>
                  <a:srgbClr val="2A2B30"/>
                </a:solidFill>
                <a:latin typeface="Arial"/>
              </a:defRPr>
            </a:pPr>
            <a:r>
              <a:t>•  Istanbul — 14 | 860.21 avg votes | 4.29 rating</a:t>
            </a:r>
          </a:p>
          <a:p>
            <a:pPr>
              <a:spcAft>
                <a:spcPts val="800"/>
              </a:spcAft>
              <a:defRPr sz="1200">
                <a:solidFill>
                  <a:srgbClr val="2A2B30"/>
                </a:solidFill>
                <a:latin typeface="Arial"/>
              </a:defRPr>
            </a:pPr>
            <a:r>
              <a:t>•  Ankara — 20 | 131.35 avg votes | 4.31 rating</a:t>
            </a:r>
          </a:p>
          <a:p>
            <a:pPr>
              <a:spcAft>
                <a:spcPts val="800"/>
              </a:spcAft>
              <a:defRPr sz="1200">
                <a:solidFill>
                  <a:srgbClr val="2A2B30"/>
                </a:solidFill>
                <a:latin typeface="Arial"/>
              </a:defRPr>
            </a:pPr>
            <a:r>
              <a:t>•  Doha — 20 | 163.80 avg votes | 4.06 rating</a:t>
            </a:r>
          </a:p>
          <a:p>
            <a:pPr>
              <a:spcAft>
                <a:spcPts val="800"/>
              </a:spcAft>
              <a:defRPr sz="1200">
                <a:solidFill>
                  <a:srgbClr val="2A2B30"/>
                </a:solidFill>
                <a:latin typeface="Arial"/>
              </a:defRPr>
            </a:pPr>
            <a:r>
              <a:t>•  Colombo — 20 | 146.45 avg votes | 3.87 rating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F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" y="6062472"/>
            <a:ext cx="106801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B241C"/>
                </a:solidFill>
                <a:latin typeface="Arial"/>
              </a:rPr>
              <a:t>These counts are dataset listings, not the total size of each city's restaurant market.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1A65028-E6B2-4BF6-7F4D-8D2AEB752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85" y="1564274"/>
            <a:ext cx="3915351" cy="402270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7B92DB2-20EF-BBA9-F41B-AE706972D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198" y="1508760"/>
            <a:ext cx="3513124" cy="40227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Arial"/>
              </a:rPr>
              <a:t>06  |  RATING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412326"/>
                </a:solidFill>
                <a:latin typeface="Arial"/>
              </a:rPr>
              <a:t>Turkey and Indonesia set the strongest rating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96C73"/>
                </a:solidFill>
                <a:latin typeface="Arial"/>
              </a:rPr>
              <a:t>Share rated 4+ is useful as a quality signal, but the samples remain limited.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96C73"/>
                </a:solidFill>
                <a:latin typeface="Arial"/>
              </a:rPr>
              <a:t>ZOMATO DATASET  |  RESTAURANT EXPANSION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E23744"/>
                </a:solidFill>
                <a:latin typeface="Arial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737360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23744"/>
                </a:solidFill>
                <a:latin typeface="Arial"/>
              </a:rP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148840"/>
            <a:ext cx="3657600" cy="29260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Turkey: 88.2% of rated restaurants score 4+.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Indonesia: 81.0% score 4+.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Sri Lanka: 65.0% score 4+.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Qatar: 55.0% score 4+.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Use the differences as signals for research, not a guarantee of future performance.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F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" y="6062472"/>
            <a:ext cx="106801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 dirty="0">
                <a:solidFill>
                  <a:srgbClr val="7B241C"/>
                </a:solidFill>
                <a:latin typeface="Arial"/>
              </a:rPr>
              <a:t>denominator visible on the chart: percentages are based on rated restaurants.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404B69-148C-33C5-D5FB-FA8FDE5F7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1093"/>
            <a:ext cx="6365324" cy="39358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Arial"/>
              </a:rPr>
              <a:t>07  |  COST &amp;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412326"/>
                </a:solidFill>
                <a:latin typeface="Arial"/>
              </a:rPr>
              <a:t>Cost for two must be compared in a common 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96C73"/>
                </a:solidFill>
                <a:latin typeface="Arial"/>
              </a:rPr>
              <a:t>INR conversion supports cross-country comparison; local currency and exchange-rate assumptions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96C73"/>
                </a:solidFill>
                <a:latin typeface="Arial"/>
              </a:rPr>
              <a:t>ZOMATO DATASET  |  RESTAURANT EXPANSION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E23744"/>
                </a:solidFill>
                <a:latin typeface="Arial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737360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23744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48840"/>
            <a:ext cx="3474720" cy="2743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Dataset averages vary substantially by country.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Local-currency medians are often easier to interpret than converted averages.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Use average price range alongside INR cost to understand the restaurant tier.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Do not use the city pivot's unusually low Turkey cost values until the conversion is verified.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F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" y="6062472"/>
            <a:ext cx="106801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B241C"/>
                </a:solidFill>
                <a:latin typeface="Arial"/>
              </a:rPr>
              <a:t>Before finalising: verify Turkish conversion values and the source/date of exchange rates.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7AD5904-7C10-0C7B-2D76-8C9418A49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1" y="1583626"/>
            <a:ext cx="6714202" cy="42319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Arial"/>
              </a:rPr>
              <a:t>08  |  LOCAL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412326"/>
                </a:solidFill>
                <a:latin typeface="Arial"/>
              </a:rPr>
              <a:t>High-vote competitors show where engagement is concentrated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96C73"/>
                </a:solidFill>
                <a:latin typeface="Arial"/>
              </a:rPr>
              <a:t>Votes help identify visible competitors; they are not a market-share measure.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96C73"/>
                </a:solidFill>
                <a:latin typeface="Arial"/>
              </a:rPr>
              <a:t>ZOMATO DATASET  |  RESTAURANT EXPANSION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E23744"/>
                </a:solidFill>
                <a:latin typeface="Arial"/>
              </a:rP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737360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23744"/>
                </a:solidFill>
                <a:latin typeface="Arial"/>
              </a:rPr>
              <a:t>Examples from the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851" y="2253996"/>
            <a:ext cx="3566160" cy="2743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rPr dirty="0"/>
              <a:t>•  Jakarta: Talaga </a:t>
            </a:r>
            <a:r>
              <a:rPr dirty="0" err="1"/>
              <a:t>Sampireun</a:t>
            </a:r>
            <a:r>
              <a:rPr dirty="0"/>
              <a:t> and Skye appear among high-vote venues.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rPr dirty="0"/>
              <a:t>•  Istanbul: J'adore Chocolatier and Karaköy </a:t>
            </a:r>
            <a:r>
              <a:rPr dirty="0" err="1"/>
              <a:t>Güllüoğlu</a:t>
            </a:r>
            <a:r>
              <a:rPr dirty="0"/>
              <a:t> have high vote counts.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rPr dirty="0"/>
              <a:t>•  Doha: Indian Coffee House has high engagement but a lower rating (3.4).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rPr dirty="0"/>
              <a:t>•  Colombo includes a highly voted venue rated 2.4—check service and quality context.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6ABA00-691B-DD11-CD3A-43B2B9341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366"/>
            <a:ext cx="6937150" cy="48826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Arial"/>
              </a:rPr>
              <a:t>09  |  CUISINE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412326"/>
                </a:solidFill>
                <a:latin typeface="Arial"/>
              </a:rPr>
              <a:t>Indonesian and Turkish cuisine categories rate strongly in the shortlist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96C73"/>
                </a:solidFill>
                <a:latin typeface="Arial"/>
              </a:rPr>
              <a:t>Only show cuisines with a sufficient rated sample; cuisine labels can overlap.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96C73"/>
                </a:solidFill>
                <a:latin typeface="Arial"/>
              </a:rPr>
              <a:t>ZOMATO DATASET  |  RESTAURANT EXPANSION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E23744"/>
                </a:solidFill>
                <a:latin typeface="Arial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23744"/>
                </a:solidFill>
                <a:latin typeface="Arial"/>
              </a:rP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148840"/>
            <a:ext cx="3566160" cy="2743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Indonesian cuisine: 4.51 average rating (n=7).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Kebab: 4.38 (n=10); Turkish Pizza: 4.33 (n=8).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Western and desserts also rate well in the broader cuisine view.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These are associations within a small sample—not proof that cuisine alone drives ratings.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F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" y="6062472"/>
            <a:ext cx="106801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 dirty="0">
                <a:solidFill>
                  <a:srgbClr val="7B241C"/>
                </a:solidFill>
                <a:latin typeface="Arial"/>
              </a:rPr>
              <a:t>Use</a:t>
            </a:r>
            <a:r>
              <a:rPr lang="en-US" sz="1000" b="0" i="0" dirty="0">
                <a:solidFill>
                  <a:srgbClr val="7B241C"/>
                </a:solidFill>
                <a:latin typeface="Arial"/>
              </a:rPr>
              <a:t>d </a:t>
            </a:r>
            <a:r>
              <a:rPr sz="1000" b="0" i="0" dirty="0">
                <a:solidFill>
                  <a:srgbClr val="7B241C"/>
                </a:solidFill>
                <a:latin typeface="Arial"/>
              </a:rPr>
              <a:t>the latest verified cuisine pivot; avoid mixing </a:t>
            </a:r>
            <a:r>
              <a:rPr sz="1000" b="0" i="0" dirty="0" err="1">
                <a:solidFill>
                  <a:srgbClr val="7B241C"/>
                </a:solidFill>
                <a:latin typeface="Arial"/>
              </a:rPr>
              <a:t>Primary_Cuisine</a:t>
            </a:r>
            <a:r>
              <a:rPr sz="1000" b="0" i="0" dirty="0">
                <a:solidFill>
                  <a:srgbClr val="7B241C"/>
                </a:solidFill>
                <a:latin typeface="Arial"/>
              </a:rPr>
              <a:t> results with multi-cuisine counts.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D945F03-814F-989F-DCC7-8C437DB55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79" y="1786128"/>
            <a:ext cx="6313785" cy="38008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Arial"/>
              </a:rPr>
              <a:t>10  |  RATING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412326"/>
                </a:solidFill>
                <a:latin typeface="Arial"/>
              </a:rPr>
              <a:t>Higher price tiers do not consistently produce higher ratings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96C73"/>
                </a:solidFill>
                <a:latin typeface="Arial"/>
              </a:rPr>
              <a:t>Keep price range and average rating definitions consistent across comparison groups.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96C73"/>
                </a:solidFill>
                <a:latin typeface="Arial"/>
              </a:rPr>
              <a:t>ZOMATO DATASET  |  RESTAURANT EXPANSION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E23744"/>
                </a:solidFill>
                <a:latin typeface="Arial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23744"/>
                </a:solidFill>
                <a:latin typeface="Arial"/>
              </a:rPr>
              <a:t>What it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148840"/>
            <a:ext cx="3566160" cy="2743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In the shortlisted countries, ratings are broadly flat across price ranges 2–4.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The earlier analysis reported a pooled correlation near 0.02 in the shortlist.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The whole-dataset relationship was stronger, partly influenced by India.</a:t>
            </a:r>
          </a:p>
          <a:p>
            <a:pPr>
              <a:spcAft>
                <a:spcPts val="10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Price is not a reliable substitute for food quality or customer experience.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F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" y="6062472"/>
            <a:ext cx="106801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B241C"/>
                </a:solidFill>
                <a:latin typeface="Arial"/>
              </a:rPr>
              <a:t>Retain the correlation only if the underlying formula and sample filters are still valid in the workbook.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BBBF24-9399-DAD4-CDEC-382844E48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38073"/>
            <a:ext cx="6324416" cy="38026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Arial"/>
              </a:rPr>
              <a:t>11  |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412326"/>
                </a:solidFill>
                <a:latin typeface="Arial"/>
              </a:rPr>
              <a:t>Prioritise a staged research plan—not an immediate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96C73"/>
                </a:solidFill>
                <a:latin typeface="Arial"/>
              </a:rPr>
              <a:t>Use the screen to focus resources, then validate each market with local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96C73"/>
                </a:solidFill>
                <a:latin typeface="Arial"/>
              </a:rPr>
              <a:t>ZOMATO DATASET  |  RESTAURANT EXPANSION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E23744"/>
                </a:solidFill>
                <a:latin typeface="Arial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349240" cy="1600200"/>
          </a:xfrm>
          <a:prstGeom prst="roundRect">
            <a:avLst/>
          </a:prstGeom>
          <a:solidFill>
            <a:srgbClr val="F8F7F6"/>
          </a:solidFill>
          <a:ln>
            <a:solidFill>
              <a:srgbClr val="E2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85623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E23744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74520"/>
            <a:ext cx="4114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7B241C"/>
                </a:solidFill>
                <a:latin typeface="Arial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12848"/>
            <a:ext cx="41605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A2B30"/>
                </a:solidFill>
                <a:latin typeface="Arial"/>
              </a:rPr>
              <a:t>Start deeper diligence in Indonesia and Turkey; retain Qatar and Sri Lanka as comparison markets.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88920"/>
            <a:ext cx="4160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Strong engagement / rating signals, but limited dataset coverage.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91640"/>
            <a:ext cx="5349240" cy="1600200"/>
          </a:xfrm>
          <a:prstGeom prst="roundRect">
            <a:avLst/>
          </a:prstGeom>
          <a:solidFill>
            <a:srgbClr val="F8F7F6"/>
          </a:solidFill>
          <a:ln>
            <a:solidFill>
              <a:srgbClr val="E2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85623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E23744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74520"/>
            <a:ext cx="4114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7B241C"/>
                </a:solidFill>
                <a:latin typeface="Arial"/>
              </a:rPr>
              <a:t>CONCEPT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212848"/>
            <a:ext cx="41605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A2B30"/>
                </a:solidFill>
                <a:latin typeface="Arial"/>
              </a:rPr>
              <a:t>Test Indonesian, kebab/Turkish and dessert concepts in small market research pilots.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788920"/>
            <a:ext cx="4160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Cuisine ratings are promising but observational.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5349240" cy="1600200"/>
          </a:xfrm>
          <a:prstGeom prst="roundRect">
            <a:avLst/>
          </a:prstGeom>
          <a:solidFill>
            <a:srgbClr val="F8F7F6"/>
          </a:solidFill>
          <a:ln>
            <a:solidFill>
              <a:srgbClr val="E2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822191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E23744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840480"/>
            <a:ext cx="4114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7B241C"/>
                </a:solidFill>
                <a:latin typeface="Arial"/>
              </a:rPr>
              <a:t>PRICE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178808"/>
            <a:ext cx="41605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A2B30"/>
                </a:solidFill>
                <a:latin typeface="Arial"/>
              </a:rPr>
              <a:t>Set price tests around local medians and restaurant tier, not converted averages alone.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754880"/>
            <a:ext cx="4160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Cost and price-range distributions differ materially.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657600"/>
            <a:ext cx="5349240" cy="1600200"/>
          </a:xfrm>
          <a:prstGeom prst="roundRect">
            <a:avLst/>
          </a:prstGeom>
          <a:solidFill>
            <a:srgbClr val="F8F7F6"/>
          </a:solidFill>
          <a:ln>
            <a:solidFill>
              <a:srgbClr val="E2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3822191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E23744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840480"/>
            <a:ext cx="4114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7B241C"/>
                </a:solidFill>
                <a:latin typeface="Arial"/>
              </a:rPr>
              <a:t>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178808"/>
            <a:ext cx="41605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A2B30"/>
                </a:solidFill>
                <a:latin typeface="Arial"/>
              </a:rPr>
              <a:t>Validate delivery, booking, rent, footfall, revenue and competitor menus.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754880"/>
            <a:ext cx="4160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These business drivers are not fully represented in the dataset.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F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0664" y="6062472"/>
            <a:ext cx="106801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B241C"/>
                </a:solidFill>
                <a:latin typeface="Arial"/>
              </a:rPr>
              <a:t>Recommendation: use a shortlist to guide due diligence; the dataset alone cannot establish profitability.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Arial"/>
              </a:rPr>
              <a:t>12  |  DECISION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412326"/>
                </a:solidFill>
                <a:latin typeface="Arial"/>
              </a:rPr>
              <a:t>Move from 14 international markets to a focused four-country research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 dirty="0">
                <a:solidFill>
                  <a:srgbClr val="696C73"/>
                </a:solidFill>
                <a:latin typeface="Arial"/>
              </a:rPr>
              <a:t>The expected impact is a narrower research scope, not a predicted increase in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96C73"/>
                </a:solidFill>
                <a:latin typeface="Arial"/>
              </a:rPr>
              <a:t>ZOMATO DATASET  |  RESTAURANT EXPANSION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E23744"/>
                </a:solidFill>
                <a:latin typeface="Arial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2468880" cy="1371600"/>
          </a:xfrm>
          <a:prstGeom prst="roundRect">
            <a:avLst/>
          </a:prstGeom>
          <a:solidFill>
            <a:srgbClr val="F8F7F6"/>
          </a:solidFill>
          <a:ln>
            <a:solidFill>
              <a:srgbClr val="E2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883664"/>
            <a:ext cx="213969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96C73"/>
                </a:solidFill>
                <a:latin typeface="Arial"/>
              </a:rPr>
              <a:t>MARKETS TO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76272"/>
            <a:ext cx="213969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E23744"/>
                </a:solidFill>
                <a:latin typeface="Arial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688336"/>
            <a:ext cx="2139696" cy="3474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Countries outside India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737360"/>
            <a:ext cx="2468880" cy="1371600"/>
          </a:xfrm>
          <a:prstGeom prst="roundRect">
            <a:avLst/>
          </a:prstGeom>
          <a:solidFill>
            <a:srgbClr val="F8F7F6"/>
          </a:solidFill>
          <a:ln>
            <a:solidFill>
              <a:srgbClr val="E2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02152" y="1883664"/>
            <a:ext cx="213969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96C73"/>
                </a:solidFill>
                <a:latin typeface="Arial"/>
              </a:rPr>
              <a:t>SHORTLIST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176272"/>
            <a:ext cx="213969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E23744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688336"/>
            <a:ext cx="2139696" cy="3474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Indonesia • Turkey • Qatar • Sri Lanka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737360"/>
            <a:ext cx="2468880" cy="1371600"/>
          </a:xfrm>
          <a:prstGeom prst="roundRect">
            <a:avLst/>
          </a:prstGeom>
          <a:solidFill>
            <a:srgbClr val="F8F7F6"/>
          </a:solidFill>
          <a:ln>
            <a:solidFill>
              <a:srgbClr val="E2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53912" y="1883664"/>
            <a:ext cx="213969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96C73"/>
                </a:solidFill>
                <a:latin typeface="Arial"/>
              </a:rPr>
              <a:t>CITY CANDIDATES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176272"/>
            <a:ext cx="213969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E23744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2688336"/>
            <a:ext cx="2139696" cy="3474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Jakarta • Istanbul • Ankara • Doha • Colombo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737360"/>
            <a:ext cx="2468880" cy="1371600"/>
          </a:xfrm>
          <a:prstGeom prst="roundRect">
            <a:avLst/>
          </a:prstGeom>
          <a:solidFill>
            <a:srgbClr val="F8F7F6"/>
          </a:solidFill>
          <a:ln>
            <a:solidFill>
              <a:srgbClr val="E2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05672" y="1883664"/>
            <a:ext cx="213969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96C73"/>
                </a:solidFill>
                <a:latin typeface="Arial"/>
              </a:rPr>
              <a:t>NEXT PHASE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2176272"/>
            <a:ext cx="213969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E23744"/>
                </a:solidFill>
                <a:latin typeface="Arial"/>
              </a:rPr>
              <a:t>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2688336"/>
            <a:ext cx="2139696" cy="3474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96C73"/>
                </a:solidFill>
                <a:latin typeface="Arial"/>
              </a:rPr>
              <a:t>Validate before committing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57600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23744"/>
                </a:solidFill>
                <a:latin typeface="Arial"/>
              </a:rPr>
              <a:t>Pilot decision gates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069080"/>
            <a:ext cx="10607040" cy="13716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Customer research confirms a real target segment and price acceptance.</a:t>
            </a:r>
          </a:p>
          <a:p>
            <a:pPr>
              <a:spcAft>
                <a:spcPts val="8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Local cost, rent, staffing and delivery economics fit a viable business case.</a:t>
            </a:r>
          </a:p>
          <a:p>
            <a:pPr>
              <a:spcAft>
                <a:spcPts val="8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Competitor mapping shows a defensible positioning opportunity.</a:t>
            </a:r>
          </a:p>
          <a:p>
            <a:pPr>
              <a:spcAft>
                <a:spcPts val="800"/>
              </a:spcAft>
              <a:defRPr sz="1300">
                <a:solidFill>
                  <a:srgbClr val="2A2B30"/>
                </a:solidFill>
                <a:latin typeface="Arial"/>
              </a:defRPr>
            </a:pPr>
            <a:r>
              <a:t>•  Pilot success measures are defined before launch: rating, repeat intent, cost and operational performance.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F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" y="6062472"/>
            <a:ext cx="106801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B241C"/>
                </a:solidFill>
                <a:latin typeface="Arial"/>
              </a:rPr>
              <a:t>Any targets such as rating ≥4.2 or 75% rated 4+ are proposed benchmarks—not guaranteed outcomes.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Arial"/>
              </a:rPr>
              <a:t>13  | 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412326"/>
                </a:solidFill>
                <a:latin typeface="Arial"/>
              </a:rPr>
              <a:t>One interactive view connects market size, quality, price and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96C73"/>
                </a:solidFill>
                <a:latin typeface="Arial"/>
              </a:rPr>
              <a:t>Use the clean dashboard screenshot with both slicers set to 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96C73"/>
                </a:solidFill>
                <a:latin typeface="Arial"/>
              </a:rPr>
              <a:t>ZOMATO DATASET  |  RESTAURANT EXPANSION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E23744"/>
                </a:solidFill>
                <a:latin typeface="Arial"/>
              </a:rPr>
              <a:t>14</a:t>
            </a:r>
          </a:p>
        </p:txBody>
      </p:sp>
      <p:pic>
        <p:nvPicPr>
          <p:cNvPr id="8" name="Picture 7" descr="_ppt_asse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516" y="1600200"/>
            <a:ext cx="6444967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199632"/>
            <a:ext cx="7772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1">
                <a:solidFill>
                  <a:srgbClr val="696C73"/>
                </a:solidFill>
                <a:latin typeface="Arial"/>
              </a:rPr>
              <a:t>Replace this embedded dashboard image if it is not the latest version.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737360"/>
            <a:ext cx="2468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23744"/>
                </a:solidFill>
                <a:latin typeface="Arial"/>
              </a:rPr>
              <a:t>How to read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148840"/>
            <a:ext cx="2606040" cy="21945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A2B30"/>
                </a:solidFill>
                <a:latin typeface="Arial"/>
              </a:defRPr>
            </a:pPr>
            <a:r>
              <a:t>•  Top cards summarise the overall dataset.</a:t>
            </a:r>
          </a:p>
          <a:p>
            <a:pPr>
              <a:spcAft>
                <a:spcPts val="1000"/>
              </a:spcAft>
              <a:defRPr sz="1200">
                <a:solidFill>
                  <a:srgbClr val="2A2B30"/>
                </a:solidFill>
                <a:latin typeface="Arial"/>
              </a:defRPr>
            </a:pPr>
            <a:r>
              <a:t>•  Country and year filters should update every connected chart.</a:t>
            </a:r>
          </a:p>
          <a:p>
            <a:pPr>
              <a:spcAft>
                <a:spcPts val="1000"/>
              </a:spcAft>
              <a:defRPr sz="1200">
                <a:solidFill>
                  <a:srgbClr val="2A2B30"/>
                </a:solidFill>
                <a:latin typeface="Arial"/>
              </a:defRPr>
            </a:pPr>
            <a:r>
              <a:t>•  Use the dashboard to explore; use detailed pivots to validate individual findings.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F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6062472"/>
            <a:ext cx="10680192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 dirty="0">
                <a:solidFill>
                  <a:srgbClr val="7B241C"/>
                </a:solidFill>
                <a:latin typeface="Arial"/>
              </a:rPr>
              <a:t>Final check: confirm every chart and KPI responds to both slicers</a:t>
            </a:r>
            <a:endParaRPr lang="en-US" sz="1000" b="0" i="0" dirty="0">
              <a:solidFill>
                <a:srgbClr val="7B241C"/>
              </a:solidFill>
              <a:latin typeface="Arial"/>
            </a:endParaRPr>
          </a:p>
          <a:p>
            <a:pPr algn="l"/>
            <a:endParaRPr sz="1000" b="0" i="0" dirty="0">
              <a:solidFill>
                <a:srgbClr val="7B241C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1601</Words>
  <Application>Microsoft Office PowerPoint</Application>
  <PresentationFormat>Widescreen</PresentationFormat>
  <Paragraphs>212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kunal prasad</cp:lastModifiedBy>
  <cp:revision>2</cp:revision>
  <dcterms:created xsi:type="dcterms:W3CDTF">2013-01-27T09:14:16Z</dcterms:created>
  <dcterms:modified xsi:type="dcterms:W3CDTF">2026-10-13T14:49:54Z</dcterms:modified>
  <cp:category/>
</cp:coreProperties>
</file>